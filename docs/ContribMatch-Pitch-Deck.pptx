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874519"/>
            <a:ext cx="502920" cy="64008"/>
          </a:xfrm>
          <a:prstGeom prst="rect">
            <a:avLst/>
          </a:prstGeom>
          <a:solidFill>
            <a:srgbClr val="2D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881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Calibri"/>
              </a:rPr>
              <a:t>ContribMatch</a:t>
            </a:r>
          </a:p>
          <a:p>
            <a:pPr algn="l">
              <a:spcAft>
                <a:spcPts val="600"/>
              </a:spcAft>
            </a:pPr>
            <a:r>
              <a:rPr sz="2600" b="0">
                <a:solidFill>
                  <a:srgbClr val="F2F1EE"/>
                </a:solidFill>
                <a:latin typeface="Calibri"/>
              </a:rPr>
              <a:t>Find an issue you can actually finish.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0624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AAAAB0"/>
                </a:solidFill>
                <a:latin typeface="Calibri"/>
              </a:rPr>
              <a:t>A name, an issue, a first pull request.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8A8A90"/>
                </a:solidFill>
                <a:latin typeface="Calibri"/>
              </a:rPr>
              <a:t>Powered by open-weight Gemma · MIT licensed · Built for Hacktoberfest HackDays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8A8A90"/>
                </a:solidFill>
                <a:latin typeface="Calibri"/>
              </a:rPr>
              <a:t>Built by Tanmay Tiwari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7"/>
                </a:solidFill>
                <a:latin typeface="Consolas"/>
              </a:rPr>
              <a:t>contribmatch · pitch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7"/>
                </a:solidFill>
                <a:latin typeface="Consola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01014"/>
                </a:solidFill>
                <a:latin typeface="Calibri"/>
              </a:rPr>
              <a:t>Open source does not have an issue shortage.
It has a first-step shortage.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737360"/>
            <a:ext cx="5852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01014"/>
                </a:solidFill>
                <a:latin typeface="Calibri"/>
              </a:rPr>
              <a:t>Is this issue still open?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01014"/>
                </a:solidFill>
                <a:latin typeface="Calibri"/>
              </a:rPr>
              <a:t>Is it still unclaimed?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01014"/>
                </a:solidFill>
                <a:latin typeface="Calibri"/>
              </a:rPr>
              <a:t>Is the project still alive?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01014"/>
                </a:solidFill>
                <a:latin typeface="Calibri"/>
              </a:rPr>
              <a:t>Is it a first contribution for me, in a language I use?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01014"/>
                </a:solidFill>
                <a:latin typeface="Calibri"/>
              </a:rPr>
              <a:t>What is the first pull request supposed to look like?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7"/>
                </a:solidFill>
                <a:latin typeface="Consolas"/>
              </a:rPr>
              <a:t>the bottleneck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7"/>
                </a:solidFill>
                <a:latin typeface="Consola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394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D81FF"/>
                </a:solidFill>
                <a:latin typeface="Calibri"/>
              </a:rPr>
              <a:t>None of these are code questions — and all of them stop people.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7"/>
                </a:solidFill>
                <a:latin typeface="Consolas"/>
              </a:rPr>
              <a:t>the bottleneck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7"/>
                </a:solidFill>
                <a:latin typeface="Consola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01014"/>
                </a:solidFill>
                <a:latin typeface="Calibri"/>
              </a:rPr>
              <a:t>One screen. Four answers.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737360"/>
            <a:ext cx="5852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7"/>
                </a:solidFill>
                <a:latin typeface="Consolas"/>
              </a:rPr>
              <a:t>the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7"/>
                </a:solidFill>
                <a:latin typeface="Consolas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2788920" cy="1325880"/>
          </a:xfrm>
          <a:prstGeom prst="rect">
            <a:avLst/>
          </a:prstGeom>
          <a:solidFill>
            <a:srgbClr val="FA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2788920" cy="64008"/>
          </a:xfrm>
          <a:prstGeom prst="rect">
            <a:avLst/>
          </a:prstGeom>
          <a:solidFill>
            <a:srgbClr val="2D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01014"/>
                </a:solidFill>
                <a:latin typeface="Calibri"/>
              </a:rPr>
              <a:t>Match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67128"/>
            <a:ext cx="2331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66667"/>
                </a:solidFill>
                <a:latin typeface="Calibri"/>
              </a:rPr>
              <a:t>the issues a beginner can actually finish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1600200"/>
            <a:ext cx="2788920" cy="1325880"/>
          </a:xfrm>
          <a:prstGeom prst="rect">
            <a:avLst/>
          </a:prstGeom>
          <a:solidFill>
            <a:srgbClr val="FA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1600200"/>
            <a:ext cx="2788920" cy="64008"/>
          </a:xfrm>
          <a:prstGeom prst="rect">
            <a:avLst/>
          </a:prstGeom>
          <a:solidFill>
            <a:srgbClr val="2D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17373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01014"/>
                </a:solidFill>
                <a:latin typeface="Calibri"/>
              </a:rPr>
              <a:t>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167128"/>
            <a:ext cx="2331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66667"/>
                </a:solidFill>
                <a:latin typeface="Calibri"/>
              </a:rPr>
              <a:t>0–100, every point traceable to a rule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063240"/>
            <a:ext cx="2788920" cy="1325880"/>
          </a:xfrm>
          <a:prstGeom prst="rect">
            <a:avLst/>
          </a:prstGeom>
          <a:solidFill>
            <a:srgbClr val="FA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063240"/>
            <a:ext cx="2788920" cy="64008"/>
          </a:xfrm>
          <a:prstGeom prst="rect">
            <a:avLst/>
          </a:prstGeom>
          <a:solidFill>
            <a:srgbClr val="2D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20040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01014"/>
                </a:solidFill>
                <a:latin typeface="Calibri"/>
              </a:rPr>
              <a:t>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630168"/>
            <a:ext cx="2331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66667"/>
                </a:solidFill>
                <a:latin typeface="Calibri"/>
              </a:rPr>
              <a:t>the files, the steps, the checklist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9000" y="3063240"/>
            <a:ext cx="2788920" cy="1325880"/>
          </a:xfrm>
          <a:prstGeom prst="rect">
            <a:avLst/>
          </a:prstGeom>
          <a:solidFill>
            <a:srgbClr val="FA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29000" y="3063240"/>
            <a:ext cx="2788920" cy="64008"/>
          </a:xfrm>
          <a:prstGeom prst="rect">
            <a:avLst/>
          </a:prstGeom>
          <a:solidFill>
            <a:srgbClr val="2D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320040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01014"/>
                </a:solidFill>
                <a:latin typeface="Calibri"/>
              </a:rPr>
              <a:t>Guard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630168"/>
            <a:ext cx="2331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66667"/>
                </a:solidFill>
                <a:latin typeface="Calibri"/>
              </a:rPr>
              <a:t>the quality checks a maintainer would run</a:t>
            </a:r>
          </a:p>
        </p:txBody>
      </p:sp>
      <p:pic>
        <p:nvPicPr>
          <p:cNvPr id="23" name="Picture 22" descr="index-1280-light.png"/>
          <p:cNvPicPr>
            <a:picLocks noChangeAspect="1"/>
          </p:cNvPicPr>
          <p:nvPr/>
        </p:nvPicPr>
        <p:blipFill>
          <a:blip r:embed="rId2"/>
          <a:srcRect b="82759"/>
          <a:stretch>
            <a:fillRect/>
          </a:stretch>
        </p:blipFill>
        <p:spPr>
          <a:xfrm>
            <a:off x="6400800" y="1600200"/>
            <a:ext cx="5303520" cy="364617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02920" y="4617720"/>
            <a:ext cx="5760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66667"/>
                </a:solidFill>
                <a:latin typeface="Calibri"/>
              </a:rPr>
              <a:t>The home page: the 3D contribution wall and the activity panel, in one view.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66667"/>
                </a:solidFill>
                <a:latin typeface="Calibri"/>
              </a:rPr>
              <a:t>Type a GitHub username and the matcher runs the whole pipeline live.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7"/>
                </a:solidFill>
                <a:latin typeface="Consolas"/>
              </a:rPr>
              <a:t>the product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7"/>
                </a:solidFill>
                <a:latin typeface="Consola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01014"/>
                </a:solidFill>
                <a:latin typeface="Calibri"/>
              </a:rPr>
              <a:t>Why open innovation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737360"/>
            <a:ext cx="5852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7"/>
                </a:solidFill>
                <a:latin typeface="Consolas"/>
              </a:rPr>
              <a:t>why open innovation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7"/>
                </a:solidFill>
                <a:latin typeface="Consolas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5852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101014"/>
                </a:solidFill>
                <a:latin typeface="Calibri"/>
              </a:rPr>
              <a:t>•  The contribution pipeline is the product, and the product should be owned by the people building it.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101014"/>
                </a:solidFill>
                <a:latin typeface="Calibri"/>
              </a:rPr>
              <a:t>•  The friction is not technical. It is informational. Information is something a tool can carry.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101014"/>
                </a:solidFill>
                <a:latin typeface="Calibri"/>
              </a:rPr>
              <a:t>•  No backend, no account, no data collection: the trust argument is the architecture, not a promise.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101014"/>
                </a:solidFill>
                <a:latin typeface="Calibri"/>
              </a:rPr>
              <a:t>•  MIT licensed and forkable in an afternoon, so a community can run their own version.</a:t>
            </a:r>
          </a:p>
        </p:txBody>
      </p:sp>
      <p:pic>
        <p:nvPicPr>
          <p:cNvPr id="8" name="Picture 7" descr="open-innovation-1280-light.png"/>
          <p:cNvPicPr>
            <a:picLocks noChangeAspect="1"/>
          </p:cNvPicPr>
          <p:nvPr/>
        </p:nvPicPr>
        <p:blipFill>
          <a:blip r:embed="rId2"/>
          <a:srcRect b="60953"/>
          <a:stretch>
            <a:fillRect/>
          </a:stretch>
        </p:blipFill>
        <p:spPr>
          <a:xfrm>
            <a:off x="6537960" y="1737360"/>
            <a:ext cx="5120640" cy="40005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7"/>
                </a:solidFill>
                <a:latin typeface="Consolas"/>
              </a:rPr>
              <a:t>why open innovation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7"/>
                </a:solidFill>
                <a:latin typeface="Consola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01014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737360"/>
            <a:ext cx="5852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7"/>
                </a:solidFill>
                <a:latin typeface="Consolas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7"/>
                </a:solidFill>
                <a:latin typeface="Consolas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5852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101014"/>
                </a:solidFill>
                <a:latin typeface="Calibri"/>
              </a:rPr>
              <a:t>•  Static site, vanilla ES modules, no build step, no framework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101014"/>
                </a:solidFill>
                <a:latin typeface="Calibri"/>
              </a:rPr>
              <a:t>•  Business logic is DOM-free; only js/ui touches the document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101014"/>
                </a:solidFill>
                <a:latin typeface="Calibri"/>
              </a:rPr>
              <a:t>•  One provider interface, two implementations, one mock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101014"/>
                </a:solidFill>
                <a:latin typeface="Calibri"/>
              </a:rPr>
              <a:t>•  Rules first: the model only ever sees the top eight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6537960" y="1783080"/>
            <a:ext cx="5120640" cy="713232"/>
          </a:xfrm>
          <a:prstGeom prst="rect">
            <a:avLst/>
          </a:prstGeom>
          <a:solidFill>
            <a:srgbClr val="FA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86537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01014"/>
                </a:solidFill>
                <a:latin typeface="Calibri"/>
              </a:rPr>
              <a:t>Profile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16712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66667"/>
                </a:solidFill>
                <a:latin typeface="Calibri"/>
              </a:rPr>
              <a:t>public activity → skills, level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37960" y="2624328"/>
            <a:ext cx="5120640" cy="713232"/>
          </a:xfrm>
          <a:prstGeom prst="rect">
            <a:avLst/>
          </a:prstGeom>
          <a:solidFill>
            <a:srgbClr val="FA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270662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01014"/>
                </a:solidFill>
                <a:latin typeface="Calibri"/>
              </a:rPr>
              <a:t>Scout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00837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66667"/>
                </a:solidFill>
                <a:latin typeface="Calibri"/>
              </a:rPr>
              <a:t>GitHub search → candidate issues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37960" y="3465576"/>
            <a:ext cx="5120640" cy="713232"/>
          </a:xfrm>
          <a:prstGeom prst="rect">
            <a:avLst/>
          </a:prstGeom>
          <a:solidFill>
            <a:srgbClr val="FA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354787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01014"/>
                </a:solidFill>
                <a:latin typeface="Calibri"/>
              </a:rPr>
              <a:t>Ranker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384962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66667"/>
                </a:solidFill>
                <a:latin typeface="Calibri"/>
              </a:rPr>
              <a:t>rules → top 8 → Gemma → 0–100 + reasons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37960" y="4306824"/>
            <a:ext cx="5120640" cy="713232"/>
          </a:xfrm>
          <a:prstGeom prst="rect">
            <a:avLst/>
          </a:prstGeom>
          <a:solidFill>
            <a:srgbClr val="FA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43891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01014"/>
                </a:solidFill>
                <a:latin typeface="Calibri"/>
              </a:rPr>
              <a:t>Coach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469087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66667"/>
                </a:solidFill>
                <a:latin typeface="Calibri"/>
              </a:rPr>
              <a:t>issue → plan, comment, checklist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37960" y="5148072"/>
            <a:ext cx="5120640" cy="713232"/>
          </a:xfrm>
          <a:prstGeom prst="rect">
            <a:avLst/>
          </a:prstGeom>
          <a:solidFill>
            <a:srgbClr val="FA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523036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01014"/>
                </a:solidFill>
                <a:latin typeface="Calibri"/>
              </a:rPr>
              <a:t>Quality Guard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55321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66667"/>
                </a:solidFill>
                <a:latin typeface="Calibri"/>
              </a:rPr>
              <a:t>the flags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06640" y="5861304"/>
            <a:ext cx="3383280" cy="36576"/>
          </a:xfrm>
          <a:prstGeom prst="rect">
            <a:avLst/>
          </a:prstGeom>
          <a:solidFill>
            <a:srgbClr val="2D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59893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2D81FF"/>
                </a:solidFill>
                <a:latin typeface="Calibri"/>
              </a:rPr>
              <a:t>shortlisting → localStorage (exports as Markdown)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7"/>
                </a:solidFill>
                <a:latin typeface="Consolas"/>
              </a:rPr>
              <a:t>architecture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7"/>
                </a:solidFill>
                <a:latin typeface="Consola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01014"/>
                </a:solidFill>
                <a:latin typeface="Calibri"/>
              </a:rPr>
              <a:t>The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737360"/>
            <a:ext cx="5852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7"/>
                </a:solidFill>
                <a:latin typeface="Consolas"/>
              </a:rPr>
              <a:t>the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7"/>
                </a:solidFill>
                <a:latin typeface="Consolas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66667"/>
                </a:solidFill>
                <a:latin typeface="Consolas"/>
              </a:rPr>
              <a:t>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8288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66667"/>
                </a:solidFill>
                <a:latin typeface="Consolas"/>
              </a:rPr>
              <a:t>READS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8288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66667"/>
                </a:solidFill>
                <a:latin typeface="Consolas"/>
              </a:rPr>
              <a:t>WRITES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40280"/>
            <a:ext cx="11155680" cy="18288"/>
          </a:xfrm>
          <a:prstGeom prst="rect">
            <a:avLst/>
          </a:prstGeom>
          <a:solidFill>
            <a:srgbClr val="D8D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423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01014"/>
                </a:solidFill>
                <a:latin typeface="Calibri"/>
              </a:rPr>
              <a:t>Profile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42316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01014"/>
                </a:solidFill>
                <a:latin typeface="Calibri"/>
              </a:rPr>
              <a:t>public repos, languages, topics, activity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42316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D81FF"/>
                </a:solidFill>
                <a:latin typeface="Calibri"/>
              </a:rPr>
              <a:t>skills, level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172968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01014"/>
                </a:solidFill>
                <a:latin typeface="Calibri"/>
              </a:rPr>
              <a:t>Scout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172968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01014"/>
                </a:solidFill>
                <a:latin typeface="Calibri"/>
              </a:rPr>
              <a:t>GitHub 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3172968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D81FF"/>
                </a:solidFill>
                <a:latin typeface="Calibri"/>
              </a:rPr>
              <a:t>a candidate list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922776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01014"/>
                </a:solidFill>
                <a:latin typeface="Calibri"/>
              </a:rPr>
              <a:t>Ranker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922776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01014"/>
                </a:solidFill>
                <a:latin typeface="Calibri"/>
              </a:rPr>
              <a:t>rules, then the model on the top 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922776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D81FF"/>
                </a:solidFill>
                <a:latin typeface="Calibri"/>
              </a:rPr>
              <a:t>0–100 and the reasons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672584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01014"/>
                </a:solidFill>
                <a:latin typeface="Calibri"/>
              </a:rPr>
              <a:t>Coach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672584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01014"/>
                </a:solidFill>
                <a:latin typeface="Calibri"/>
              </a:rPr>
              <a:t>one issue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4672584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D81FF"/>
                </a:solidFill>
                <a:latin typeface="Calibri"/>
              </a:rPr>
              <a:t>the plan, the comment, the checklist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422392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01014"/>
                </a:solidFill>
                <a:latin typeface="Calibri"/>
              </a:rPr>
              <a:t>Quality Guard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5422392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01014"/>
                </a:solidFill>
                <a:latin typeface="Calibri"/>
              </a:rPr>
              <a:t>the plan and the draft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5422392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D81FF"/>
                </a:solidFill>
                <a:latin typeface="Calibri"/>
              </a:rPr>
              <a:t>the flags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30936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66667"/>
                </a:solidFill>
                <a:latin typeface="Calibri"/>
              </a:rPr>
              <a:t>Every agent is async run(input, ctx) and returns schema-validated JSON.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7"/>
                </a:solidFill>
                <a:latin typeface="Consolas"/>
              </a:rPr>
              <a:t>the agents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7"/>
                </a:solidFill>
                <a:latin typeface="Consola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01014"/>
                </a:solidFill>
                <a:latin typeface="Calibri"/>
              </a:rPr>
              <a:t>Open-weight Gemma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737360"/>
            <a:ext cx="5852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7"/>
                </a:solidFill>
                <a:latin typeface="Consolas"/>
              </a:rPr>
              <a:t>open-weight gemma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7"/>
                </a:solidFill>
                <a:latin typeface="Consolas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5852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01014"/>
                </a:solidFill>
                <a:latin typeface="Calibri"/>
              </a:rPr>
              <a:t>•  Ollama runs Gemma locally — the model that is on your machine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01014"/>
                </a:solidFill>
                <a:latin typeface="Calibri"/>
              </a:rPr>
              <a:t>•  Google AI Studio hosts Gemma, for a shared key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01014"/>
                </a:solidFill>
                <a:latin typeface="Calibri"/>
              </a:rPr>
              <a:t>•  OLLAMA_ORIGINS is the setting people get wrong; it is in the docs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01014"/>
                </a:solidFill>
                <a:latin typeface="Calibri"/>
              </a:rPr>
              <a:t>•  The model is never the only path. Rules carry the ranking; the model carries the wording.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01014"/>
                </a:solidFill>
                <a:latin typeface="Calibri"/>
              </a:rPr>
              <a:t>•  The model rating is blended at 35% into the final score — never 100%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01014"/>
                </a:solidFill>
                <a:latin typeface="Calibri"/>
              </a:rPr>
              <a:t>•  A key is never committed and never sent anywhere but the API it belongs to</a:t>
            </a:r>
          </a:p>
        </p:txBody>
      </p:sp>
      <p:sp>
        <p:nvSpPr>
          <p:cNvPr id="8" name="Rectangle 7"/>
          <p:cNvSpPr/>
          <p:nvPr/>
        </p:nvSpPr>
        <p:spPr>
          <a:xfrm>
            <a:off x="6537960" y="1737360"/>
            <a:ext cx="5120640" cy="4023360"/>
          </a:xfrm>
          <a:prstGeom prst="rect">
            <a:avLst/>
          </a:prstGeom>
          <a:solidFill>
            <a:srgbClr val="FA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1965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66667"/>
                </a:solidFill>
                <a:latin typeface="Consolas"/>
              </a:rPr>
              <a:t>RANKING 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2468880"/>
            <a:ext cx="4572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01014"/>
                </a:solidFill>
                <a:latin typeface="Calibri"/>
              </a:rPr>
              <a:t>65%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666667"/>
                </a:solidFill>
                <a:latin typeface="Calibri"/>
              </a:rPr>
              <a:t>transparent rules: language match, repo health, labels, freshness, activity, body hygiene</a:t>
            </a:r>
          </a:p>
          <a:p>
            <a:pPr algn="l">
              <a:spcAft>
                <a:spcPts val="600"/>
              </a:spcAft>
            </a:pPr>
            <a:r>
              <a:rPr sz="4000" b="1">
                <a:solidFill>
                  <a:srgbClr val="2D81FF"/>
                </a:solidFill>
                <a:latin typeface="Calibri"/>
              </a:rPr>
              <a:t>35%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66667"/>
                </a:solidFill>
                <a:latin typeface="Calibri"/>
              </a:rPr>
              <a:t>Gemma's rating of the top 8: ease, clarity, fit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7"/>
                </a:solidFill>
                <a:latin typeface="Consolas"/>
              </a:rPr>
              <a:t>open-weight gemma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7"/>
                </a:solidFill>
                <a:latin typeface="Consola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01014"/>
                </a:solidFill>
                <a:latin typeface="Calibri"/>
              </a:rPr>
              <a:t>Exact versus approximate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737360"/>
            <a:ext cx="5852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7"/>
                </a:solidFill>
                <a:latin typeface="Consolas"/>
              </a:rPr>
              <a:t>honesty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7"/>
                </a:solidFill>
                <a:latin typeface="Consolas"/>
              </a:rP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11155680" cy="960120"/>
          </a:xfrm>
          <a:prstGeom prst="rect">
            <a:avLst/>
          </a:prstGeom>
          <a:solidFill>
            <a:srgbClr val="FA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8483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01014"/>
                </a:solidFill>
                <a:latin typeface="Calibri"/>
              </a:rPr>
              <a:t>Exact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11226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66667"/>
                </a:solidFill>
                <a:latin typeface="Calibri"/>
              </a:rPr>
              <a:t>a token is 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12264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01014"/>
                </a:solidFill>
                <a:latin typeface="Calibri"/>
              </a:rPr>
              <a:t>the full calendar from GraphQL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926080"/>
            <a:ext cx="11155680" cy="960120"/>
          </a:xfrm>
          <a:prstGeom prst="rect">
            <a:avLst/>
          </a:prstGeom>
          <a:solidFill>
            <a:srgbClr val="FA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8211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01014"/>
                </a:solidFill>
                <a:latin typeface="Calibri"/>
              </a:rPr>
              <a:t>Approximate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20954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66667"/>
                </a:solidFill>
                <a:latin typeface="Calibri"/>
              </a:rPr>
              <a:t>no token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209544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01014"/>
                </a:solidFill>
                <a:latin typeface="Calibri"/>
              </a:rPr>
              <a:t>about 90 days of public events, mapped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023360"/>
            <a:ext cx="11155680" cy="960120"/>
          </a:xfrm>
          <a:prstGeom prst="rect">
            <a:avLst/>
          </a:prstGeom>
          <a:solidFill>
            <a:srgbClr val="FA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27939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01014"/>
                </a:solidFill>
                <a:latin typeface="Calibri"/>
              </a:rPr>
              <a:t>Sample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4306824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66667"/>
                </a:solidFill>
                <a:latin typeface="Calibri"/>
              </a:rPr>
              <a:t>no name yet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306824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01014"/>
                </a:solidFill>
                <a:latin typeface="Calibri"/>
              </a:rPr>
              <a:t>clearly labelled sample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25780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D81FF"/>
                </a:solidFill>
                <a:latin typeface="Calibri"/>
              </a:rPr>
              <a:t>The 3D wall always covers the same window as the panel. An approximation is never drawn as a full year.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7"/>
                </a:solidFill>
                <a:latin typeface="Consolas"/>
              </a:rPr>
              <a:t>honesty as a feature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7"/>
                </a:solidFill>
                <a:latin typeface="Consola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01014"/>
                </a:solidFill>
                <a:latin typeface="Calibri"/>
              </a:rPr>
              <a:t>The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737360"/>
            <a:ext cx="5852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7"/>
                </a:solidFill>
                <a:latin typeface="Consolas"/>
              </a:rPr>
              <a:t>the 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7"/>
                </a:solidFill>
                <a:latin typeface="Consolas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01014"/>
                </a:solidFill>
                <a:latin typeface="Calibri"/>
              </a:rPr>
              <a:t>•  Neutral, square, hairlines, one accent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01014"/>
                </a:solidFill>
                <a:latin typeface="Calibri"/>
              </a:rPr>
              <a:t>•  Depth from perspective and flat offset shadows, never from glow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01014"/>
                </a:solidFill>
                <a:latin typeface="Calibri"/>
              </a:rPr>
              <a:t>•  English, Hindi and Hinglish — including the generated notes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01014"/>
                </a:solidFill>
                <a:latin typeface="Calibri"/>
              </a:rPr>
              <a:t>•  Every control has six states and a 24px minimum target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01014"/>
                </a:solidFill>
                <a:latin typeface="Calibri"/>
              </a:rPr>
              <a:t>•  WCAG AA throughout; the audit runs on every page, in both themes</a:t>
            </a:r>
          </a:p>
        </p:txBody>
      </p:sp>
      <p:pic>
        <p:nvPicPr>
          <p:cNvPr id="8" name="Picture 7" descr="design-system-1280-light.png"/>
          <p:cNvPicPr>
            <a:picLocks noChangeAspect="1"/>
          </p:cNvPicPr>
          <p:nvPr/>
        </p:nvPicPr>
        <p:blipFill>
          <a:blip r:embed="rId2"/>
          <a:srcRect b="80849"/>
          <a:stretch>
            <a:fillRect/>
          </a:stretch>
        </p:blipFill>
        <p:spPr>
          <a:xfrm>
            <a:off x="5806440" y="1737360"/>
            <a:ext cx="5852160" cy="52578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7"/>
                </a:solidFill>
                <a:latin typeface="Consolas"/>
              </a:rPr>
              <a:t>the interface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7"/>
                </a:solidFill>
                <a:latin typeface="Consola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01014"/>
                </a:solidFill>
                <a:latin typeface="Calibri"/>
              </a:rPr>
              <a:t>Community packs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737360"/>
            <a:ext cx="5852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7"/>
                </a:solidFill>
                <a:latin typeface="Consolas"/>
              </a:rPr>
              <a:t>community packs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7"/>
                </a:solidFill>
                <a:latin typeface="Consolas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5852160" cy="914400"/>
          </a:xfrm>
          <a:prstGeom prst="rect">
            <a:avLst/>
          </a:prstGeom>
          <a:solidFill>
            <a:srgbClr val="E9E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01014"/>
                </a:solidFill>
                <a:latin typeface="Consolas"/>
              </a:rPr>
              <a:t>{ "id": "web-basics", "type": "skill",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01014"/>
                </a:solidFill>
                <a:latin typeface="Consolas"/>
              </a:rPr>
              <a:t>  "skills": ["html", "css"] 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926080"/>
            <a:ext cx="5852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01014"/>
                </a:solidFill>
                <a:latin typeface="Calibri"/>
              </a:rPr>
              <a:t>•  A pack is a plain JSON or YAML file describing skills, tone and vocabulary for an ecosystem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01014"/>
                </a:solidFill>
                <a:latin typeface="Calibri"/>
              </a:rPr>
              <a:t>•  Five ship with the project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01014"/>
                </a:solidFill>
                <a:latin typeface="Calibri"/>
              </a:rPr>
              <a:t>•  npm run validate:packs checks them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01014"/>
                </a:solidFill>
                <a:latin typeface="Calibri"/>
              </a:rPr>
              <a:t>•  Adding one is a pull request, not a ticket — this is the collaboration model, not a feature list</a:t>
            </a:r>
          </a:p>
        </p:txBody>
      </p:sp>
      <p:pic>
        <p:nvPicPr>
          <p:cNvPr id="10" name="Picture 9" descr="packs-1280-light.png"/>
          <p:cNvPicPr>
            <a:picLocks noChangeAspect="1"/>
          </p:cNvPicPr>
          <p:nvPr/>
        </p:nvPicPr>
        <p:blipFill>
          <a:blip r:embed="rId2"/>
          <a:srcRect b="60427"/>
          <a:stretch>
            <a:fillRect/>
          </a:stretch>
        </p:blipFill>
        <p:spPr>
          <a:xfrm>
            <a:off x="6537960" y="1737360"/>
            <a:ext cx="5120640" cy="460057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7"/>
                </a:solidFill>
                <a:latin typeface="Consolas"/>
              </a:rPr>
              <a:t>community packs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7"/>
                </a:solidFill>
                <a:latin typeface="Consola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01014"/>
                </a:solidFill>
                <a:latin typeface="Calibri"/>
              </a:rPr>
              <a:t>Try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737360"/>
            <a:ext cx="5852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7"/>
                </a:solidFill>
                <a:latin typeface="Consolas"/>
              </a:rPr>
              <a:t>try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7"/>
                </a:solidFill>
                <a:latin typeface="Consolas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5852160" cy="1234440"/>
          </a:xfrm>
          <a:prstGeom prst="rect">
            <a:avLst/>
          </a:prstGeom>
          <a:solidFill>
            <a:srgbClr val="101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F2F1EE"/>
                </a:solidFill>
                <a:latin typeface="Consolas"/>
              </a:rPr>
              <a:t>git clone https://github.com/Tanmay-Tiwaricyber/contribmatch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F2F1EE"/>
                </a:solidFill>
                <a:latin typeface="Consolas"/>
              </a:rPr>
              <a:t>cd contribmatch &amp;&amp; npm install &amp;&amp; npm run serve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46120"/>
            <a:ext cx="5852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01014"/>
                </a:solidFill>
                <a:latin typeface="Calibri"/>
              </a:rPr>
              <a:t>•  npm test runs everything: the packs, the rules, the providers, the orchestrator, and the copy rules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01014"/>
                </a:solidFill>
                <a:latin typeface="Calibri"/>
              </a:rPr>
              <a:t>•  No key needed. Mock mode runs the whole flow offline.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01014"/>
                </a:solidFill>
                <a:latin typeface="Calibri"/>
              </a:rPr>
              <a:t>•  Gemma locally: ollama pull gemma3:4b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37960" y="1737360"/>
            <a:ext cx="5120640" cy="4023360"/>
          </a:xfrm>
          <a:prstGeom prst="rect">
            <a:avLst/>
          </a:prstGeom>
          <a:solidFill>
            <a:srgbClr val="FA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12280" y="1965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66667"/>
                </a:solidFill>
                <a:latin typeface="Consolas"/>
              </a:rPr>
              <a:t>LINKS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2468880"/>
            <a:ext cx="4572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01014"/>
                </a:solidFill>
                <a:latin typeface="Calibri"/>
              </a:rPr>
              <a:t>Live app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2D81FF"/>
                </a:solidFill>
                <a:latin typeface="Calibri"/>
              </a:rPr>
              <a:t>https://tanmay-tiwaricyber.github.io/contribmatch/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101014"/>
                </a:solidFill>
                <a:latin typeface="Calibri"/>
              </a:rPr>
              <a:t>Repository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2D81FF"/>
                </a:solidFill>
                <a:latin typeface="Calibri"/>
              </a:rPr>
              <a:t>https://github.com/Tanmay-Tiwaricyber/contribmatch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101014"/>
                </a:solidFill>
                <a:latin typeface="Calibri"/>
              </a:rPr>
              <a:t>Demo video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666667"/>
                </a:solidFill>
                <a:latin typeface="Calibri"/>
              </a:rPr>
              <a:t>link to be added on submission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7"/>
                </a:solidFill>
                <a:latin typeface="Consolas"/>
              </a:rPr>
              <a:t>try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7"/>
                </a:solidFill>
                <a:latin typeface="Consola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01014"/>
                </a:solidFill>
                <a:latin typeface="Calibri"/>
              </a:rPr>
              <a:t>By design, not by accident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66667"/>
                </a:solidFill>
                <a:latin typeface="Calibri"/>
              </a:rPr>
              <a:t>Five decisions that shape the product. Ask us about any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892807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666667"/>
                </a:solidFill>
                <a:latin typeface="Consola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1947672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01014"/>
                </a:solidFill>
                <a:latin typeface="Calibri"/>
              </a:rPr>
              <a:t>The ranking is a rubric — every score traces to rules you can read, not a black-box guess.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2624327"/>
            <a:ext cx="9966960" cy="13716"/>
          </a:xfrm>
          <a:prstGeom prst="rect">
            <a:avLst/>
          </a:prstGeom>
          <a:solidFill>
            <a:srgbClr val="D8D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752344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666667"/>
                </a:solidFill>
                <a:latin typeface="Consola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807208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01014"/>
                </a:solidFill>
                <a:latin typeface="Calibri"/>
              </a:rPr>
              <a:t>Gemma refines and writes; the rules decide. Turn the model off and you still get a shortlist and a plan.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0200" y="3483863"/>
            <a:ext cx="9966960" cy="13716"/>
          </a:xfrm>
          <a:prstGeom prst="rect">
            <a:avLst/>
          </a:prstGeom>
          <a:solidFill>
            <a:srgbClr val="D8D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611879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666667"/>
                </a:solidFill>
                <a:latin typeface="Consolas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666744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01014"/>
                </a:solidFill>
                <a:latin typeface="Calibri"/>
              </a:rPr>
              <a:t>The graph always says what it covers — a token unlocks the exact year; without one you get 90 days of public events, clearly labelled.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4343400"/>
            <a:ext cx="9966960" cy="13716"/>
          </a:xfrm>
          <a:prstGeom prst="rect">
            <a:avLst/>
          </a:prstGeom>
          <a:solidFill>
            <a:srgbClr val="D8D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4471415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666667"/>
                </a:solidFill>
                <a:latin typeface="Consolas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4526279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01014"/>
                </a:solidFill>
                <a:latin typeface="Calibri"/>
              </a:rPr>
              <a:t>Results are bounded by GitHub's own search index. Nothing is invented, and the static catalogue keeps good data flowing.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00200" y="5202936"/>
            <a:ext cx="9966960" cy="13716"/>
          </a:xfrm>
          <a:prstGeom prst="rect">
            <a:avLst/>
          </a:prstGeom>
          <a:solidFill>
            <a:srgbClr val="D8D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5330951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666667"/>
                </a:solidFill>
                <a:latin typeface="Consolas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5385815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01014"/>
                </a:solidFill>
                <a:latin typeface="Calibri"/>
              </a:rPr>
              <a:t>No backend and no write path: nothing is ever posted on your behalf. Every action stays yours.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7"/>
                </a:solidFill>
                <a:latin typeface="Consolas"/>
              </a:rPr>
              <a:t>design decisions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7"/>
                </a:solidFill>
                <a:latin typeface="Consola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2286000"/>
            <a:ext cx="502920" cy="64008"/>
          </a:xfrm>
          <a:prstGeom prst="rect">
            <a:avLst/>
          </a:prstGeom>
          <a:solidFill>
            <a:srgbClr val="2D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Find an issue you can actually finish.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49039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2F1EE"/>
                </a:solidFill>
                <a:latin typeface="Consolas"/>
              </a:rPr>
              <a:t>Live: https://tanmay-tiwaricyber.github.io/contribmatch/   ·   Code: https://github.com/Tanmay-Tiwaricyber/contribmatch   ·   Demo: [video link]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AAAAB0"/>
                </a:solidFill>
                <a:latin typeface="Calibri"/>
              </a:rPr>
              <a:t>MIT licensed. Open-source because the contribution pipeline is the product, and the product should belong to the people building it.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8A8A90"/>
                </a:solidFill>
                <a:latin typeface="Calibri"/>
              </a:rPr>
              <a:t>Built by Tanmay Tiwari · Built for Hacktoberfest HackDays · Powered by open-weight Gemma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D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7"/>
                </a:solidFill>
                <a:latin typeface="Consolas"/>
              </a:rPr>
              <a:t>contribmatch · 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66667"/>
                </a:solidFill>
                <a:latin typeface="Consolas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